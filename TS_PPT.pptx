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300" r:id="rId3"/>
    <p:sldId id="257" r:id="rId4"/>
    <p:sldId id="301" r:id="rId5"/>
    <p:sldId id="313" r:id="rId6"/>
    <p:sldId id="260" r:id="rId7"/>
    <p:sldId id="317" r:id="rId8"/>
    <p:sldId id="315" r:id="rId9"/>
    <p:sldId id="316" r:id="rId10"/>
    <p:sldId id="310" r:id="rId11"/>
    <p:sldId id="303" r:id="rId12"/>
    <p:sldId id="262" r:id="rId13"/>
    <p:sldId id="269" r:id="rId14"/>
    <p:sldId id="309" r:id="rId15"/>
    <p:sldId id="266" r:id="rId16"/>
    <p:sldId id="308" r:id="rId17"/>
    <p:sldId id="258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21324" autoAdjust="0"/>
    <p:restoredTop sz="94602" autoAdjust="0"/>
  </p:normalViewPr>
  <p:slideViewPr>
    <p:cSldViewPr>
      <p:cViewPr varScale="1">
        <p:scale>
          <a:sx n="51" d="100"/>
          <a:sy n="51" d="100"/>
        </p:scale>
        <p:origin x="68" y="5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56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40F674E-241C-4444-B799-10F33F809B61}" type="datetimeFigureOut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fld id="{8AF35538-342E-4811-9A5B-62AE491482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1750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368300" y="0"/>
            <a:ext cx="139700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1320800" y="0"/>
            <a:ext cx="242888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522413" y="0"/>
            <a:ext cx="3063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41288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138238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2303463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215231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1746250" y="4867275"/>
            <a:ext cx="855663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1454150" y="5500688"/>
            <a:ext cx="184150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2217738" y="5788025"/>
            <a:ext cx="366712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" name="Oval 20"/>
          <p:cNvSpPr/>
          <p:nvPr/>
        </p:nvSpPr>
        <p:spPr>
          <a:xfrm>
            <a:off x="2540000" y="4495800"/>
            <a:ext cx="487363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048000" y="3124200"/>
            <a:ext cx="82296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048000" y="5003322"/>
            <a:ext cx="82296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2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3088" y="1111250"/>
            <a:ext cx="2286000" cy="508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BF3EA7-9516-471B-BDBA-3C797781BEBE}" type="datetime1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23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701" y="4117975"/>
            <a:ext cx="3657600" cy="511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24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766888" y="4929188"/>
            <a:ext cx="812800" cy="517525"/>
          </a:xfrm>
        </p:spPr>
        <p:txBody>
          <a:bodyPr/>
          <a:lstStyle>
            <a:lvl1pPr>
              <a:defRPr/>
            </a:lvl1pPr>
          </a:lstStyle>
          <a:p>
            <a:fld id="{3FD29B45-4318-4DF9-A799-6ED173DD8A9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79159640-D7AD-4552-8586-0B9694A7178E}" type="datetime1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5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631849-9E7A-48DF-8D3C-4EBE4D8F2D9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auto">
          <a:xfrm>
            <a:off x="508000" y="0"/>
            <a:ext cx="8128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 bwMode="auto">
          <a:xfrm>
            <a:off x="368300" y="0"/>
            <a:ext cx="139700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 bwMode="auto">
          <a:xfrm>
            <a:off x="1320800" y="0"/>
            <a:ext cx="242888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auto">
          <a:xfrm>
            <a:off x="1522413" y="0"/>
            <a:ext cx="3063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41288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2192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138238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2303463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1422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1625600" y="0"/>
            <a:ext cx="1016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" name="Oval 13"/>
          <p:cNvSpPr/>
          <p:nvPr/>
        </p:nvSpPr>
        <p:spPr bwMode="auto">
          <a:xfrm>
            <a:off x="812800" y="3429000"/>
            <a:ext cx="17272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" name="Oval 14"/>
          <p:cNvSpPr/>
          <p:nvPr/>
        </p:nvSpPr>
        <p:spPr bwMode="auto">
          <a:xfrm>
            <a:off x="1765300" y="4867275"/>
            <a:ext cx="8572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Oval 15"/>
          <p:cNvSpPr/>
          <p:nvPr/>
        </p:nvSpPr>
        <p:spPr bwMode="auto">
          <a:xfrm>
            <a:off x="1454150" y="5500688"/>
            <a:ext cx="184150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" name="Oval 16"/>
          <p:cNvSpPr/>
          <p:nvPr/>
        </p:nvSpPr>
        <p:spPr bwMode="auto">
          <a:xfrm>
            <a:off x="2217738" y="5791200"/>
            <a:ext cx="366712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Oval 17"/>
          <p:cNvSpPr/>
          <p:nvPr/>
        </p:nvSpPr>
        <p:spPr bwMode="auto">
          <a:xfrm>
            <a:off x="2506663" y="4479925"/>
            <a:ext cx="48577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1213008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0" y="2895600"/>
            <a:ext cx="82296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0" y="5010150"/>
            <a:ext cx="82296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10731500" y="1106488"/>
            <a:ext cx="2286000" cy="508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7E4755-5A16-4F01-8C18-A5FE48F7968F}" type="datetime1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10045701" y="4114800"/>
            <a:ext cx="3657600" cy="5111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22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785938" y="4929188"/>
            <a:ext cx="812800" cy="517525"/>
          </a:xfrm>
        </p:spPr>
        <p:txBody>
          <a:bodyPr/>
          <a:lstStyle>
            <a:lvl1pPr>
              <a:defRPr/>
            </a:lvl1pPr>
          </a:lstStyle>
          <a:p>
            <a:fld id="{E28893CB-D880-4D90-92D6-85EBEE04B2E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48768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5693664" y="1600200"/>
            <a:ext cx="48768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683F92-0458-4BBB-A5A9-6C044A7DB7A4}" type="datetime1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1F95C97-B4A4-412D-9E09-3907E08CA64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058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362200"/>
            <a:ext cx="4876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5829300" y="2362200"/>
            <a:ext cx="4876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6096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5791200" y="1569720"/>
            <a:ext cx="48768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05E9F5-F981-473E-85C4-406D93F02914}" type="datetime1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9059DD-5619-48DA-B81A-915F908E532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45B1AEE9-E5EC-428E-B0C6-A6ABB9DEE956}" type="datetime1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3DCF8CE-4EFD-4E74-A0C5-968D8954971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000DA1-4A2C-4715-8FDD-44DE5540D7C0}" type="datetime1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37C0F-8922-43B7-AA1A-95554EB94B8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6" name="Straight Connector 5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7" name="Straight Connector 4"/>
          <p:cNvSpPr>
            <a:spLocks noChangeShapeType="1"/>
          </p:cNvSpPr>
          <p:nvPr/>
        </p:nvSpPr>
        <p:spPr bwMode="auto">
          <a:xfrm>
            <a:off x="825658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Straight Connector 5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Straight Connector 8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10875963" y="5715000"/>
            <a:ext cx="731837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47360" y="3124200"/>
            <a:ext cx="6309360" cy="6096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083040" y="274320"/>
            <a:ext cx="2036064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406400" y="274320"/>
            <a:ext cx="7518400" cy="632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049E209-DE90-479C-8620-83E2DB3A945A}" type="datetime1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13" name="Slide Number Placeholder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DAE528B-D19C-4238-9FAA-6E2CB20B2F6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10875963" y="5715000"/>
            <a:ext cx="731837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Straight Connector 4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traight Connector 7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3312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25658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5518404" y="3124200"/>
            <a:ext cx="6309360" cy="6096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2296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21064" y="264795"/>
            <a:ext cx="2032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B8D7123-DA67-4ADE-BAF8-5C087A04A163}" type="datetime1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13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77ABCD-A278-4C53-87BC-3FA1C5FDFE6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58C57C-C71B-45E5-A5BC-D75F10EF9FA5}" type="datetime1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CE9EC7-BC17-4FFE-A6CD-A279678B8D7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235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5A5FFF-4E46-4C6F-A7B8-B6D2716798C3}" type="datetime1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021288-A928-4049-967D-34F8CDAB6C1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1684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28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9956800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10453688" y="1017588"/>
            <a:ext cx="2011362" cy="512762"/>
          </a:xfrm>
          <a:prstGeom prst="rect">
            <a:avLst/>
          </a:prstGeom>
        </p:spPr>
        <p:txBody>
          <a:bodyPr vert="horz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AB40CAC-3920-4565-B2B8-02E9475D687C}" type="datetime1">
              <a:rPr lang="en-US"/>
              <a:pPr>
                <a:defRPr/>
              </a:pPr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9852819" y="3675857"/>
            <a:ext cx="3200400" cy="487362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17ISP85</a:t>
            </a:r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016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32" name="Straight Connector 8"/>
          <p:cNvSpPr>
            <a:spLocks noChangeShapeType="1"/>
          </p:cNvSpPr>
          <p:nvPr/>
        </p:nvSpPr>
        <p:spPr bwMode="auto">
          <a:xfrm>
            <a:off x="119888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11785600" y="0"/>
            <a:ext cx="4064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4" name="Straight Connector 10"/>
          <p:cNvSpPr>
            <a:spLocks noChangeShapeType="1"/>
          </p:cNvSpPr>
          <p:nvPr/>
        </p:nvSpPr>
        <p:spPr bwMode="auto">
          <a:xfrm>
            <a:off x="118872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0875963" y="5715000"/>
            <a:ext cx="731837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0839450" y="5734050"/>
            <a:ext cx="812800" cy="5207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400" b="1">
                <a:solidFill>
                  <a:srgbClr val="FFFFFF"/>
                </a:solidFill>
                <a:latin typeface="Century Schoolbook" pitchFamily="18" charset="0"/>
              </a:defRPr>
            </a:lvl1pPr>
          </a:lstStyle>
          <a:p>
            <a:fld id="{D2B2B5EE-FBC5-499B-A684-EA3860056B0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5" r:id="rId1"/>
    <p:sldLayoutId id="2147484126" r:id="rId2"/>
    <p:sldLayoutId id="2147484127" r:id="rId3"/>
    <p:sldLayoutId id="2147484120" r:id="rId4"/>
    <p:sldLayoutId id="2147484121" r:id="rId5"/>
    <p:sldLayoutId id="2147484128" r:id="rId6"/>
    <p:sldLayoutId id="2147484122" r:id="rId7"/>
    <p:sldLayoutId id="2147484129" r:id="rId8"/>
    <p:sldLayoutId id="2147484130" r:id="rId9"/>
    <p:sldLayoutId id="2147484123" r:id="rId10"/>
    <p:sldLayoutId id="2147484124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 panose="02040604050505020304" pitchFamily="18" charset="0"/>
        </a:defRPr>
      </a:lvl9pPr>
    </p:titleStyle>
    <p:bodyStyle>
      <a:lvl1pPr marL="273050" indent="-2730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eaLnBrk="0" fontAlgn="base" hangingPunct="0">
        <a:spcBef>
          <a:spcPct val="20000"/>
        </a:spcBef>
        <a:spcAft>
          <a:spcPct val="0"/>
        </a:spcAft>
        <a:buClr>
          <a:srgbClr val="E0752F"/>
        </a:buClr>
        <a:buSzPct val="6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eaLnBrk="0" fontAlgn="base" hangingPunct="0">
        <a:spcBef>
          <a:spcPct val="20000"/>
        </a:spcBef>
        <a:spcAft>
          <a:spcPct val="0"/>
        </a:spcAft>
        <a:buClr>
          <a:srgbClr val="FEC3AE"/>
        </a:buClr>
        <a:buSzPct val="60000"/>
        <a:buFont typeface="Wingdings" pitchFamily="2" charset="2"/>
        <a:buChar char="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eaLnBrk="0" fontAlgn="base" hangingPunct="0">
        <a:spcBef>
          <a:spcPct val="20000"/>
        </a:spcBef>
        <a:spcAft>
          <a:spcPct val="0"/>
        </a:spcAft>
        <a:buClr>
          <a:srgbClr val="BDCAE9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76600" y="2739815"/>
            <a:ext cx="7378460" cy="1026529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THREAT INTELLIGENCE </a:t>
            </a:r>
            <a:r>
              <a:rPr lang="en-US" sz="2700" dirty="0"/>
              <a:t>LIFECYCLE</a:t>
            </a:r>
            <a:endParaRPr lang="en-US" sz="2700" dirty="0">
              <a:solidFill>
                <a:srgbClr val="0070C0"/>
              </a:solidFill>
            </a:endParaRPr>
          </a:p>
        </p:txBody>
      </p:sp>
      <p:sp>
        <p:nvSpPr>
          <p:cNvPr id="9219" name="Subtitle 2"/>
          <p:cNvSpPr>
            <a:spLocks noGrp="1"/>
          </p:cNvSpPr>
          <p:nvPr>
            <p:ph type="subTitle" idx="1"/>
          </p:nvPr>
        </p:nvSpPr>
        <p:spPr>
          <a:xfrm>
            <a:off x="2552700" y="4795651"/>
            <a:ext cx="9296400" cy="1295400"/>
          </a:xfrm>
          <a:ln>
            <a:noFill/>
          </a:ln>
        </p:spPr>
        <p:txBody>
          <a:bodyPr/>
          <a:lstStyle/>
          <a:p>
            <a:pPr eaLnBrk="1" hangingPunct="1"/>
            <a:r>
              <a:rPr lang="en-US" altLang="en-US" dirty="0"/>
              <a:t>Presented By:					                  Guided By:                          </a:t>
            </a:r>
          </a:p>
          <a:p>
            <a:pPr eaLnBrk="1" hangingPunct="1"/>
            <a:r>
              <a:rPr lang="en-US" altLang="en-US" dirty="0"/>
              <a:t>Tanu Rajput                                                                               Prof. Mangala L      </a:t>
            </a:r>
          </a:p>
          <a:p>
            <a:pPr eaLnBrk="1" hangingPunct="1"/>
            <a:r>
              <a:rPr lang="en-US" altLang="en-US" dirty="0"/>
              <a:t>1DS22CY056	                                                                          Assistant Professor</a:t>
            </a:r>
          </a:p>
          <a:p>
            <a:pPr eaLnBrk="1" hangingPunct="1"/>
            <a:r>
              <a:rPr lang="en-US" altLang="en-US" dirty="0"/>
              <a:t>                                                                                                      CSCY, DSCE</a:t>
            </a:r>
          </a:p>
          <a:p>
            <a:pPr eaLnBrk="1" hangingPunct="1"/>
            <a:r>
              <a:rPr lang="en-US" altLang="en-US" dirty="0"/>
              <a:t>                                                                                                      Date: 25-04-2026</a:t>
            </a:r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228850" y="4118185"/>
            <a:ext cx="9067800" cy="49350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r>
              <a:rPr lang="en-US" b="1" dirty="0">
                <a:solidFill>
                  <a:schemeClr val="tx2"/>
                </a:solidFill>
                <a:latin typeface="+mn-lt"/>
                <a:cs typeface="+mn-cs"/>
              </a:rPr>
              <a:t>Group Number: </a:t>
            </a:r>
            <a:r>
              <a:rPr lang="en-US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G-15</a:t>
            </a:r>
            <a:endParaRPr lang="en-US" b="1" dirty="0">
              <a:solidFill>
                <a:schemeClr val="tx2"/>
              </a:solidFill>
              <a:latin typeface="+mn-lt"/>
              <a:cs typeface="+mn-cs"/>
            </a:endParaRPr>
          </a:p>
          <a:p>
            <a:pPr eaLnBrk="1" fontAlgn="auto" hangingPunct="1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defRPr/>
            </a:pPr>
            <a:endParaRPr lang="en-US" b="1" dirty="0">
              <a:solidFill>
                <a:schemeClr val="tx2"/>
              </a:solidFill>
              <a:latin typeface="+mn-lt"/>
              <a:cs typeface="+mn-cs"/>
            </a:endParaRPr>
          </a:p>
        </p:txBody>
      </p:sp>
      <p:sp>
        <p:nvSpPr>
          <p:cNvPr id="9221" name="Title 1"/>
          <p:cNvSpPr txBox="1">
            <a:spLocks noChangeArrowheads="1"/>
          </p:cNvSpPr>
          <p:nvPr/>
        </p:nvSpPr>
        <p:spPr bwMode="auto">
          <a:xfrm>
            <a:off x="3276600" y="1358000"/>
            <a:ext cx="6972300" cy="113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/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Technical Seminar –I </a:t>
            </a:r>
          </a:p>
          <a:p>
            <a:pPr algn="ctr" eaLnBrk="1" hangingPunct="1"/>
            <a:r>
              <a:rPr lang="en-US" sz="3200" b="1" dirty="0">
                <a:solidFill>
                  <a:schemeClr val="accent1"/>
                </a:solidFill>
                <a:latin typeface="Times New Roman" pitchFamily="18" charset="0"/>
                <a:cs typeface="Times New Roman" pitchFamily="18" charset="0"/>
              </a:rPr>
              <a:t>2025-2026</a:t>
            </a:r>
            <a:endParaRPr lang="en-IN" sz="3200" b="1" dirty="0">
              <a:solidFill>
                <a:schemeClr val="accent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76400" y="320516"/>
            <a:ext cx="9448800" cy="7381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1" cap="all" dirty="0">
                <a:latin typeface="Bookman Old Style" panose="02050604050505020204" pitchFamily="18" charset="0"/>
                <a:ea typeface="Calibri" panose="020F0502020204030204" pitchFamily="34" charset="0"/>
                <a:cs typeface="Courier New" panose="02070309020205020404" pitchFamily="49" charset="0"/>
              </a:rPr>
              <a:t>Dayananda </a:t>
            </a:r>
            <a:r>
              <a:rPr lang="en-US" sz="2400" b="1" cap="all" dirty="0" err="1">
                <a:latin typeface="Bookman Old Style" panose="02050604050505020204" pitchFamily="18" charset="0"/>
                <a:ea typeface="Calibri" panose="020F0502020204030204" pitchFamily="34" charset="0"/>
                <a:cs typeface="Courier New" panose="02070309020205020404" pitchFamily="49" charset="0"/>
              </a:rPr>
              <a:t>sagar</a:t>
            </a:r>
            <a:r>
              <a:rPr lang="en-US" sz="2400" b="1" cap="all" dirty="0">
                <a:latin typeface="Bookman Old Style" panose="02050604050505020204" pitchFamily="18" charset="0"/>
                <a:ea typeface="Calibri" panose="020F0502020204030204" pitchFamily="34" charset="0"/>
                <a:cs typeface="Courier New" panose="02070309020205020404" pitchFamily="49" charset="0"/>
              </a:rPr>
              <a:t> college of engineering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cap="all" dirty="0">
                <a:solidFill>
                  <a:srgbClr val="0070C0"/>
                </a:solidFill>
                <a:latin typeface="Bookman Old Style" panose="02050604050505020204" pitchFamily="18" charset="0"/>
                <a:cs typeface="Courier New" panose="02070309020205020404" pitchFamily="49" charset="0"/>
              </a:rPr>
              <a:t>Department of computer science &amp; engineering (cyber security)</a:t>
            </a:r>
            <a:endParaRPr lang="en-IN" dirty="0">
              <a:solidFill>
                <a:srgbClr val="0070C0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AGENDA</a:t>
            </a:r>
            <a:endParaRPr lang="en-IN" dirty="0"/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9956800" cy="4873625"/>
          </a:xfrm>
        </p:spPr>
        <p:txBody>
          <a:bodyPr/>
          <a:lstStyle/>
          <a:p>
            <a:r>
              <a:rPr lang="en-US" altLang="en-US" dirty="0"/>
              <a:t>Abstract</a:t>
            </a:r>
          </a:p>
          <a:p>
            <a:r>
              <a:rPr lang="en-US" altLang="en-US" dirty="0"/>
              <a:t>Introduction</a:t>
            </a:r>
          </a:p>
          <a:p>
            <a:r>
              <a:rPr lang="en-US" altLang="en-US" dirty="0"/>
              <a:t>Literature Survey</a:t>
            </a:r>
          </a:p>
          <a:p>
            <a:r>
              <a:rPr lang="en-US" altLang="en-US" dirty="0"/>
              <a:t>Design and Working</a:t>
            </a:r>
          </a:p>
          <a:p>
            <a:r>
              <a:rPr lang="en-IN" altLang="en-US" dirty="0"/>
              <a:t>Advantages and Disadvantages</a:t>
            </a:r>
          </a:p>
          <a:p>
            <a:r>
              <a:rPr lang="en-IN" altLang="en-US" dirty="0"/>
              <a:t>Applications</a:t>
            </a:r>
          </a:p>
          <a:p>
            <a:r>
              <a:rPr lang="en-IN" altLang="en-US" dirty="0"/>
              <a:t>Conclusion</a:t>
            </a:r>
          </a:p>
          <a:p>
            <a:r>
              <a:rPr lang="en-IN" altLang="en-US" dirty="0"/>
              <a:t>Future Work</a:t>
            </a:r>
          </a:p>
          <a:p>
            <a:r>
              <a:rPr lang="en-IN" altLang="en-US" dirty="0"/>
              <a:t>References</a:t>
            </a:r>
          </a:p>
          <a:p>
            <a:pPr>
              <a:buNone/>
            </a:pPr>
            <a:endParaRPr lang="en-US" altLang="en-US" dirty="0"/>
          </a:p>
          <a:p>
            <a:pPr>
              <a:buNone/>
            </a:pPr>
            <a:endParaRPr lang="en-IN" altLang="en-US" dirty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22FAEF5-DC6E-4283-B159-C0197C7A9233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0"/>
            <a:ext cx="74676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Abstract 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539750" y="1158815"/>
            <a:ext cx="10523537" cy="5272087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en-US" dirty="0"/>
              <a:t>Growing cyber threats make traditional security mechanisms insufficient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Threat Intelligence helps in proactive threat detection and mitigation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Threat Intelligence Lifecycle provides a structured intelligence process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Converts raw threat data into actionable </a:t>
            </a:r>
            <a:r>
              <a:rPr lang="en-US" altLang="en-US" dirty="0" err="1"/>
              <a:t>intelligenceImproves</a:t>
            </a:r>
            <a:r>
              <a:rPr lang="en-US" altLang="en-US" dirty="0"/>
              <a:t> decision‑making, response time, and cyber resilience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Used in SOCs, incident response, malware analysis, and risk management</a:t>
            </a:r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eaLnBrk="1" hangingPunct="1">
              <a:lnSpc>
                <a:spcPct val="150000"/>
              </a:lnSpc>
            </a:pPr>
            <a:endParaRPr lang="en-US" altLang="en-US" dirty="0"/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en-US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8755944-68FB-4AE5-8A65-7DA06E7343DF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0" y="-184150"/>
            <a:ext cx="249238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altLang="en-US"/>
              <a:t> </a:t>
            </a: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0" y="-461963"/>
            <a:ext cx="393700" cy="923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 altLang="en-US"/>
          </a:p>
          <a:p>
            <a:pPr>
              <a:buFontTx/>
              <a:buChar char="•"/>
            </a:pPr>
            <a:r>
              <a:rPr lang="en-US" altLang="en-US"/>
              <a:t>. </a:t>
            </a:r>
          </a:p>
          <a:p>
            <a:pPr>
              <a:buFontTx/>
              <a:buChar char="•"/>
            </a:pP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4313"/>
            <a:ext cx="9956800" cy="762000"/>
          </a:xfrm>
        </p:spPr>
        <p:txBody>
          <a:bodyPr/>
          <a:lstStyle/>
          <a:p>
            <a:pPr>
              <a:defRPr/>
            </a:pPr>
            <a:r>
              <a:rPr lang="en-US" dirty="0"/>
              <a:t>                                   INTRODUCTION</a:t>
            </a:r>
            <a:endParaRPr lang="en-IN" dirty="0"/>
          </a:p>
        </p:txBody>
      </p:sp>
      <p:sp>
        <p:nvSpPr>
          <p:cNvPr id="12291" name="Content Placeholder 2"/>
          <p:cNvSpPr>
            <a:spLocks noGrp="1"/>
          </p:cNvSpPr>
          <p:nvPr>
            <p:ph sz="quarter" idx="1"/>
          </p:nvPr>
        </p:nvSpPr>
        <p:spPr>
          <a:xfrm>
            <a:off x="882650" y="992187"/>
            <a:ext cx="9956800" cy="48736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altLang="en-US" dirty="0"/>
              <a:t>Modern digital systems increase attack surface.</a:t>
            </a:r>
          </a:p>
          <a:p>
            <a:pPr algn="just">
              <a:lnSpc>
                <a:spcPct val="150000"/>
              </a:lnSpc>
            </a:pPr>
            <a:r>
              <a:rPr lang="en-US" altLang="en-US" dirty="0"/>
              <a:t>Cyber‑attacks are targeted, persistent, and sophisticated.</a:t>
            </a:r>
          </a:p>
          <a:p>
            <a:pPr algn="just">
              <a:lnSpc>
                <a:spcPct val="150000"/>
              </a:lnSpc>
            </a:pPr>
            <a:r>
              <a:rPr lang="en-US" altLang="en-US" dirty="0"/>
              <a:t>Reactive security mechanisms are no longer effective.</a:t>
            </a:r>
          </a:p>
          <a:p>
            <a:pPr algn="just">
              <a:lnSpc>
                <a:spcPct val="150000"/>
              </a:lnSpc>
            </a:pPr>
            <a:r>
              <a:rPr lang="en-US" altLang="en-US" dirty="0"/>
              <a:t>Need for intelligence‑driven cybersecurity solutions.</a:t>
            </a:r>
          </a:p>
          <a:p>
            <a:pPr algn="just">
              <a:lnSpc>
                <a:spcPct val="150000"/>
              </a:lnSpc>
            </a:pPr>
            <a:r>
              <a:rPr lang="en-US" altLang="en-US" dirty="0"/>
              <a:t>Helps understand attacker behavior and intent.</a:t>
            </a:r>
          </a:p>
          <a:p>
            <a:pPr algn="just">
              <a:lnSpc>
                <a:spcPct val="150000"/>
              </a:lnSpc>
            </a:pPr>
            <a:r>
              <a:rPr lang="en-US" altLang="en-US" dirty="0"/>
              <a:t>Supports proactive defense and informed decision‑making.</a:t>
            </a:r>
            <a:endParaRPr lang="en-IN" altLang="en-US" dirty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B0456852-3A38-40C0-9D47-31212C6A53E6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4719FAE-2B2A-2867-13AF-A7C95DD86BCB}"/>
              </a:ext>
            </a:extLst>
          </p:cNvPr>
          <p:cNvSpPr/>
          <p:nvPr/>
        </p:nvSpPr>
        <p:spPr>
          <a:xfrm>
            <a:off x="850569" y="5105400"/>
            <a:ext cx="2096339" cy="106677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Collection and analysis of threat data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AA0327-BE9F-FD78-9119-B88D77398C6D}"/>
              </a:ext>
            </a:extLst>
          </p:cNvPr>
          <p:cNvSpPr/>
          <p:nvPr/>
        </p:nvSpPr>
        <p:spPr>
          <a:xfrm>
            <a:off x="3632708" y="5105400"/>
            <a:ext cx="2036763" cy="10667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Convert raw data into actionable intelligence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E1C6CAE-DAB8-93BE-A101-44369FE5EB4E}"/>
              </a:ext>
            </a:extLst>
          </p:cNvPr>
          <p:cNvSpPr/>
          <p:nvPr/>
        </p:nvSpPr>
        <p:spPr>
          <a:xfrm>
            <a:off x="6355271" y="5029206"/>
            <a:ext cx="1752600" cy="11429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Understand attacker behaviour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FE8781-F374-3591-77DF-FD63FF00EBB6}"/>
              </a:ext>
            </a:extLst>
          </p:cNvPr>
          <p:cNvSpPr/>
          <p:nvPr/>
        </p:nvSpPr>
        <p:spPr>
          <a:xfrm>
            <a:off x="8822426" y="5029205"/>
            <a:ext cx="2017024" cy="114297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Proactive defence and decision making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DC359F-4B7B-A085-CB36-620DC6F625DC}"/>
              </a:ext>
            </a:extLst>
          </p:cNvPr>
          <p:cNvCxnSpPr>
            <a:cxnSpLocks/>
          </p:cNvCxnSpPr>
          <p:nvPr/>
        </p:nvCxnSpPr>
        <p:spPr>
          <a:xfrm>
            <a:off x="2961285" y="5734050"/>
            <a:ext cx="7001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711F014-7DAA-8B1A-B1C3-5D553D08A3A2}"/>
              </a:ext>
            </a:extLst>
          </p:cNvPr>
          <p:cNvCxnSpPr/>
          <p:nvPr/>
        </p:nvCxnSpPr>
        <p:spPr>
          <a:xfrm>
            <a:off x="5669471" y="5740339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5E0DE3C-B700-E96A-D355-2DBFE0A51924}"/>
              </a:ext>
            </a:extLst>
          </p:cNvPr>
          <p:cNvCxnSpPr/>
          <p:nvPr/>
        </p:nvCxnSpPr>
        <p:spPr>
          <a:xfrm>
            <a:off x="8107871" y="5740339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0" y="304800"/>
            <a:ext cx="995680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Literature Survey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B494910-D9AC-A49B-3C7F-16EAF8A03F6A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18243174"/>
              </p:ext>
            </p:extLst>
          </p:nvPr>
        </p:nvGraphicFramePr>
        <p:xfrm>
          <a:off x="381000" y="762000"/>
          <a:ext cx="11049000" cy="6041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3907681837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397652441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601312617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3931388399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48621489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1610093789"/>
                    </a:ext>
                  </a:extLst>
                </a:gridCol>
              </a:tblGrid>
              <a:tr h="707054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Problem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335097"/>
                  </a:ext>
                </a:extLst>
              </a:tr>
              <a:tr h="40964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 Systematic Literature Review on Cyber Threat Intelligence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Saeed et al., 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Lack of structured CTI for organizational resilience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Systematic review of CTI studies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CTI improves proactive defense and situational awareness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Depends on quality of reviewed studies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852068"/>
                  </a:ext>
                </a:extLst>
              </a:tr>
              <a:tr h="40964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CTI Modeling Based on Heterogeneous GCNs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Zhao et al., 2021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Isolated </a:t>
                      </a:r>
                      <a:r>
                        <a:rPr lang="en-US" sz="1600" dirty="0" err="1"/>
                        <a:t>IoCs</a:t>
                      </a:r>
                      <a:r>
                        <a:rPr lang="en-US" sz="1600" dirty="0"/>
                        <a:t> fail to capture complex threats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Graph Convolutional Networks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Better threat correlation and contextual analysis</a:t>
                      </a:r>
                      <a:endParaRPr lang="en-IN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High computational complexity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4218183"/>
                  </a:ext>
                </a:extLst>
              </a:tr>
              <a:tr h="40964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AI-Driven Threat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ts val="1500"/>
                        </a:lnSpc>
                        <a:buNone/>
                      </a:pPr>
                      <a:r>
                        <a:rPr lang="en-US" b="0" i="0" dirty="0" err="1">
                          <a:effectLst/>
                          <a:latin typeface="Segoe UI" panose="020B0502040204020203" pitchFamily="34" charset="0"/>
                        </a:rPr>
                        <a:t>Ovabor</a:t>
                      </a:r>
                      <a:r>
                        <a:rPr lang="en-US" b="0" i="0" dirty="0">
                          <a:effectLst/>
                          <a:latin typeface="Segoe UI" panose="020B0502040204020203" pitchFamily="34" charset="0"/>
                        </a:rPr>
                        <a:t>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Slow detection of advanced threats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AI/ML-based intelligence frameworks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Faster zero-day and real-time threat detection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Data quality and ethical concerns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034478"/>
                  </a:ext>
                </a:extLst>
              </a:tr>
              <a:tr h="40964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SANS 2022 Cyber Threat Intelligence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Stirparo</a:t>
                      </a:r>
                      <a:r>
                        <a:rPr lang="en-US" dirty="0"/>
                        <a:t> &amp; Brown, 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Low CTI maturity in organizations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Industry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Automation improves CTI effectiveness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Survey-based, not experimental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6096180"/>
                  </a:ext>
                </a:extLst>
              </a:tr>
              <a:tr h="409642"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Dynamics of CTI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 err="1"/>
                        <a:t>Kodituwakku</a:t>
                      </a:r>
                      <a:r>
                        <a:rPr lang="en-IN" sz="1600" dirty="0"/>
                        <a:t> et al., 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Static CTI becomes outdated quickly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Temporal IoC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Time-aware intelligence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/>
                        <a:t>Requires continuous data updates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891534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631849-9E7A-48DF-8D3C-4EBE4D8F2D94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457200"/>
            <a:ext cx="9956800" cy="160655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DESIGN AND WORKING </a:t>
            </a:r>
          </a:p>
        </p:txBody>
      </p:sp>
      <p:sp>
        <p:nvSpPr>
          <p:cNvPr id="13315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5B4D5FC-01EF-424D-8B78-3C3A05A1C8E2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752600"/>
            <a:ext cx="10337800" cy="3733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dirty="0"/>
              <a:t>Goal: Convert threat data into actionable intelligence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Integrates multiple data sources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Uses structured lifecycle approach</a:t>
            </a:r>
          </a:p>
          <a:p>
            <a:pPr>
              <a:lnSpc>
                <a:spcPct val="150000"/>
              </a:lnSpc>
            </a:pPr>
            <a:r>
              <a:rPr lang="en-US" sz="2800" dirty="0"/>
              <a:t>Supports real-time monitoring and response</a:t>
            </a:r>
            <a:endParaRPr lang="en-IN" sz="2800" dirty="0"/>
          </a:p>
          <a:p>
            <a:pPr marL="0" indent="0">
              <a:buNone/>
            </a:pPr>
            <a:endParaRPr lang="en-IN" sz="2000" dirty="0"/>
          </a:p>
          <a:p>
            <a:pPr>
              <a:buFontTx/>
              <a:buChar char="-"/>
            </a:pPr>
            <a:endParaRPr lang="en-IN" sz="2000" dirty="0"/>
          </a:p>
          <a:p>
            <a:pPr marL="0" indent="0">
              <a:buFont typeface="Wingdings" pitchFamily="2" charset="2"/>
              <a:buNone/>
              <a:defRPr/>
            </a:pP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211E-7F19-95CC-E314-50BF949A0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792162"/>
          </a:xfrm>
        </p:spPr>
        <p:txBody>
          <a:bodyPr/>
          <a:lstStyle/>
          <a:p>
            <a:pPr algn="just"/>
            <a:r>
              <a:rPr lang="en-US" dirty="0"/>
              <a:t>		Threat Intelligence Lifecycle 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B00DB-ED94-D693-5103-7E99F53C5E67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09600" y="1447800"/>
            <a:ext cx="9956800" cy="502615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700" dirty="0"/>
              <a:t>Direction: Define intelligence goals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Collection: Gather data (logs, feeds, OSINT)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Processing: Normalize and filter data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Analysis: Identify patterns and threats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Dissemination: Share intelligence with teams</a:t>
            </a:r>
          </a:p>
          <a:p>
            <a:pPr>
              <a:lnSpc>
                <a:spcPct val="150000"/>
              </a:lnSpc>
            </a:pPr>
            <a:r>
              <a:rPr lang="en-US" sz="2700" dirty="0"/>
              <a:t>Feedback: Improve lifecycle continuously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3D1B0F-53B0-DA50-66EA-59461A414E2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631849-9E7A-48DF-8D3C-4EBE4D8F2D94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7C7B9-7545-288F-BD1F-C18F589FD4B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17ISP85</a:t>
            </a:r>
          </a:p>
        </p:txBody>
      </p:sp>
    </p:spTree>
    <p:extLst>
      <p:ext uri="{BB962C8B-B14F-4D97-AF65-F5344CB8AC3E}">
        <p14:creationId xmlns:p14="http://schemas.microsoft.com/office/powerpoint/2010/main" val="1857030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838200"/>
            <a:ext cx="9956800" cy="5864352"/>
          </a:xfrm>
        </p:spPr>
        <p:txBody>
          <a:bodyPr/>
          <a:lstStyle/>
          <a:p>
            <a:pPr marL="0" indent="0">
              <a:buNone/>
            </a:pPr>
            <a:r>
              <a:rPr lang="en-IN" sz="2800" b="1" dirty="0"/>
              <a:t>Working Mechanism:</a:t>
            </a:r>
          </a:p>
          <a:p>
            <a:pPr marL="0" indent="0">
              <a:buNone/>
            </a:pPr>
            <a:endParaRPr lang="en-IN" b="1" dirty="0"/>
          </a:p>
          <a:p>
            <a:pPr>
              <a:lnSpc>
                <a:spcPct val="150000"/>
              </a:lnSpc>
              <a:buSzPct val="74000"/>
              <a:buFont typeface="Courier New" panose="02070309020205020404" pitchFamily="49" charset="0"/>
              <a:buChar char="o"/>
            </a:pPr>
            <a:r>
              <a:rPr lang="en-US" sz="2700" dirty="0"/>
              <a:t>Collect threat data from internal and external sources</a:t>
            </a:r>
          </a:p>
          <a:p>
            <a:pPr>
              <a:lnSpc>
                <a:spcPct val="150000"/>
              </a:lnSpc>
              <a:buSzPct val="74000"/>
              <a:buFont typeface="Courier New" panose="02070309020205020404" pitchFamily="49" charset="0"/>
              <a:buChar char="o"/>
            </a:pPr>
            <a:r>
              <a:rPr lang="en-US" sz="2700" dirty="0"/>
              <a:t>Process and correlate Indicators of Compromise (</a:t>
            </a:r>
            <a:r>
              <a:rPr lang="en-US" sz="2700" dirty="0" err="1"/>
              <a:t>IoCs</a:t>
            </a:r>
            <a:r>
              <a:rPr lang="en-US" sz="2700" dirty="0"/>
              <a:t>)</a:t>
            </a:r>
          </a:p>
          <a:p>
            <a:pPr>
              <a:lnSpc>
                <a:spcPct val="150000"/>
              </a:lnSpc>
              <a:buSzPct val="74000"/>
              <a:buFont typeface="Courier New" panose="02070309020205020404" pitchFamily="49" charset="0"/>
              <a:buChar char="o"/>
            </a:pPr>
            <a:r>
              <a:rPr lang="en-US" sz="2700" dirty="0"/>
              <a:t>Analyze attacker behavior and attack patterns</a:t>
            </a:r>
          </a:p>
          <a:p>
            <a:pPr>
              <a:lnSpc>
                <a:spcPct val="150000"/>
              </a:lnSpc>
              <a:buSzPct val="74000"/>
              <a:buFont typeface="Courier New" panose="02070309020205020404" pitchFamily="49" charset="0"/>
              <a:buChar char="o"/>
            </a:pPr>
            <a:r>
              <a:rPr lang="en-US" sz="2700" dirty="0"/>
              <a:t>Generate alerts and actionable insights</a:t>
            </a:r>
          </a:p>
          <a:p>
            <a:pPr>
              <a:lnSpc>
                <a:spcPct val="150000"/>
              </a:lnSpc>
              <a:buSzPct val="74000"/>
              <a:buFont typeface="Courier New" panose="02070309020205020404" pitchFamily="49" charset="0"/>
              <a:buChar char="o"/>
            </a:pPr>
            <a:r>
              <a:rPr lang="en-US" sz="2700" dirty="0"/>
              <a:t>Support automated and manual response</a:t>
            </a:r>
            <a:endParaRPr lang="en-IN" sz="27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631849-9E7A-48DF-8D3C-4EBE4D8F2D94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7011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D631849-9E7A-48DF-8D3C-4EBE4D8F2D94}" type="slidenum">
              <a:rPr lang="en-US" altLang="en-US" smtClean="0"/>
              <a:pPr/>
              <a:t>9</a:t>
            </a:fld>
            <a:endParaRPr lang="en-US" alt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5347692-4213-3924-8EA4-3176B12376F3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590800" y="762001"/>
            <a:ext cx="6629400" cy="546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55147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228600"/>
            <a:ext cx="10591800" cy="6400800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/>
              <a:t>Step 1:</a:t>
            </a:r>
            <a:r>
              <a:rPr lang="en-US" sz="2200" dirty="0"/>
              <a:t> Threat Intelligence Collection – Threat data is collected from multiple internal and external sources.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/>
              <a:t>Step 2: </a:t>
            </a:r>
            <a:r>
              <a:rPr lang="en-US" sz="2200" dirty="0"/>
              <a:t>Normalization – Collected threat data is converted into a common format for uniform processing.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/>
              <a:t>Step 3: </a:t>
            </a:r>
            <a:r>
              <a:rPr lang="en-US" sz="2200" dirty="0"/>
              <a:t>Deduplication – Correlation score (Cs) is calculated and duplicate </a:t>
            </a:r>
            <a:r>
              <a:rPr lang="en-US" sz="2200" dirty="0" err="1"/>
              <a:t>IoCs</a:t>
            </a:r>
            <a:r>
              <a:rPr lang="en-US" sz="2200" dirty="0"/>
              <a:t> are identified and removed.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/>
              <a:t>Step 4: </a:t>
            </a:r>
            <a:r>
              <a:rPr lang="en-US" sz="2200" dirty="0"/>
              <a:t>Filtering – Irrelevant and low‑quality </a:t>
            </a:r>
            <a:r>
              <a:rPr lang="en-US" sz="2200" dirty="0" err="1"/>
              <a:t>IoCs</a:t>
            </a:r>
            <a:r>
              <a:rPr lang="en-US" sz="2200" dirty="0"/>
              <a:t> are filtered based on predefined setup rules.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/>
              <a:t>Step 5:</a:t>
            </a:r>
            <a:r>
              <a:rPr lang="en-US" sz="2200" dirty="0"/>
              <a:t> Clustering &amp; Correlation – IoC weights (IoC‑</a:t>
            </a:r>
            <a:r>
              <a:rPr lang="en-US" sz="2200" dirty="0" err="1"/>
              <a:t>wgt</a:t>
            </a:r>
            <a:r>
              <a:rPr lang="en-US" sz="2200" dirty="0"/>
              <a:t>) are calculated and similar </a:t>
            </a:r>
            <a:r>
              <a:rPr lang="en-US" sz="2200" dirty="0" err="1"/>
              <a:t>IoCs</a:t>
            </a:r>
            <a:r>
              <a:rPr lang="en-US" sz="2200" dirty="0"/>
              <a:t> are correlated and grouped into clusters.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200" b="1" dirty="0"/>
              <a:t>Step 6: </a:t>
            </a:r>
            <a:r>
              <a:rPr lang="en-US" sz="2200" dirty="0"/>
              <a:t>IoC Enrichment &amp; Representation – Clusters are represented as enriched </a:t>
            </a:r>
            <a:r>
              <a:rPr lang="en-US" sz="2200" dirty="0" err="1"/>
              <a:t>IoCs</a:t>
            </a:r>
            <a:r>
              <a:rPr lang="en-US" sz="2200" dirty="0"/>
              <a:t> and stored for actionable threat intelligence.</a:t>
            </a:r>
            <a:endParaRPr lang="en-IN" sz="2200" dirty="0"/>
          </a:p>
        </p:txBody>
      </p:sp>
      <p:sp>
        <p:nvSpPr>
          <p:cNvPr id="14340" name="Slide Number Placeholder 3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6C7FCF3-9B07-47C1-B124-5E0BCBAA2F73}" type="slidenum">
              <a:rPr lang="en-US" altLang="en-US"/>
              <a:pPr/>
              <a:t>10</a:t>
            </a:fld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591800" cy="563562"/>
          </a:xfrm>
        </p:spPr>
        <p:txBody>
          <a:bodyPr/>
          <a:lstStyle/>
          <a:p>
            <a:pPr algn="ctr">
              <a:defRPr/>
            </a:pPr>
            <a:r>
              <a:rPr lang="en-US" dirty="0"/>
              <a:t> Advantages and disadvantages</a:t>
            </a:r>
            <a:endParaRPr lang="en-IN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76BEFAB-5A6D-44E3-B375-AE040F99C82D}" type="slidenum">
              <a:rPr lang="en-US" altLang="en-US"/>
              <a:pPr/>
              <a:t>11</a:t>
            </a:fld>
            <a:endParaRPr lang="en-US" alt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928622"/>
              </p:ext>
            </p:extLst>
          </p:nvPr>
        </p:nvGraphicFramePr>
        <p:xfrm>
          <a:off x="823175" y="1143003"/>
          <a:ext cx="10001250" cy="54806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7687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Disadvantages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2812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Enables proactive threat detection by identifying potential attacks before they occur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/>
                        <a:t>Dependency on data 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2812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/>
                        <a:t>Faster incident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/>
                        <a:t>High data processing overhead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2812">
                <a:tc>
                  <a:txBody>
                    <a:bodyPr/>
                    <a:lstStyle/>
                    <a:p>
                      <a:pPr algn="ctr"/>
                      <a:r>
                        <a:rPr lang="en-IN" sz="2200" b="0" dirty="0"/>
                        <a:t>Provides better understanding of attacker </a:t>
                      </a:r>
                      <a:r>
                        <a:rPr lang="en-IN" sz="2200" b="0" dirty="0" err="1"/>
                        <a:t>behavior</a:t>
                      </a:r>
                      <a:r>
                        <a:rPr lang="en-IN" sz="2200" b="0" dirty="0"/>
                        <a:t> and attack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Processing large volumes of data can increase system and resource overhead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2812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Helps in prioritizing threats based on risk and impact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Requires skilled analysts to interpret and validate threat intelligence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2812"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Enhances overall security posture and situational awareness</a:t>
                      </a:r>
                      <a:endParaRPr lang="en-IN" sz="2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dirty="0"/>
                        <a:t>Risk of false positives if data is noisy or poorly correlated</a:t>
                      </a:r>
                      <a:endParaRPr lang="en-IN" sz="22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9956800" cy="6858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APPLICATIONS</a:t>
            </a:r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C9C7A4F-D22A-4129-93F6-93E5D5E589C0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7412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120775"/>
            <a:ext cx="10363200" cy="487362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en-US" sz="2600" dirty="0"/>
              <a:t>Security Operations Centers (SOC) and threat hunting.</a:t>
            </a:r>
          </a:p>
          <a:p>
            <a:pPr>
              <a:lnSpc>
                <a:spcPct val="150000"/>
              </a:lnSpc>
            </a:pPr>
            <a:r>
              <a:rPr lang="en-US" altLang="en-US" sz="2600" dirty="0"/>
              <a:t>Helps in proactive identification and prevention of cyber threats</a:t>
            </a:r>
          </a:p>
          <a:p>
            <a:pPr>
              <a:lnSpc>
                <a:spcPct val="150000"/>
              </a:lnSpc>
            </a:pPr>
            <a:r>
              <a:rPr lang="en-US" altLang="en-US" sz="2600" dirty="0"/>
              <a:t>Improves incident response speed through actionable intelligence</a:t>
            </a:r>
          </a:p>
          <a:p>
            <a:pPr>
              <a:lnSpc>
                <a:spcPct val="150000"/>
              </a:lnSpc>
            </a:pPr>
            <a:r>
              <a:rPr lang="en-US" altLang="en-US" sz="2600" dirty="0"/>
              <a:t>Provides better understanding of attacker behavior and tactics</a:t>
            </a:r>
          </a:p>
          <a:p>
            <a:pPr>
              <a:lnSpc>
                <a:spcPct val="150000"/>
              </a:lnSpc>
            </a:pPr>
            <a:r>
              <a:rPr lang="en-US" altLang="en-US" sz="2600" dirty="0"/>
              <a:t>Enables effective risk prioritization and decision‑making</a:t>
            </a:r>
          </a:p>
          <a:p>
            <a:pPr>
              <a:lnSpc>
                <a:spcPct val="150000"/>
              </a:lnSpc>
            </a:pPr>
            <a:r>
              <a:rPr lang="en-US" altLang="en-US" sz="2600" dirty="0"/>
              <a:t>Enhances overall security posture and situational awareness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52400"/>
            <a:ext cx="9956800" cy="11430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C</a:t>
            </a:r>
            <a:r>
              <a:rPr lang="en-IN" dirty="0"/>
              <a:t>ONCLUSION</a:t>
            </a:r>
            <a:endParaRPr lang="en-US" dirty="0"/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>
          <a:xfrm>
            <a:off x="724884" y="1219200"/>
            <a:ext cx="10515600" cy="5181600"/>
          </a:xfrm>
        </p:spPr>
        <p:txBody>
          <a:bodyPr/>
          <a:lstStyle/>
          <a:p>
            <a:pPr algn="just"/>
            <a:r>
              <a:rPr lang="en-US" sz="2600" dirty="0"/>
              <a:t>Threat Intelligence Lifecycle provides a structured approach to manage cyber threats effectively.</a:t>
            </a:r>
          </a:p>
          <a:p>
            <a:pPr algn="just"/>
            <a:r>
              <a:rPr lang="en-US" sz="2600" dirty="0"/>
              <a:t>It transforms raw security data into meaningful and actionable intelligence.</a:t>
            </a:r>
          </a:p>
          <a:p>
            <a:pPr algn="just"/>
            <a:r>
              <a:rPr lang="en-US" sz="2600" dirty="0"/>
              <a:t>The lifecycle enables proactive detection and faster response to cyber‑attacks.</a:t>
            </a:r>
          </a:p>
          <a:p>
            <a:pPr algn="just"/>
            <a:r>
              <a:rPr lang="en-US" sz="2600" dirty="0"/>
              <a:t>It improves situational awareness and supports informed security decision‑making.</a:t>
            </a:r>
          </a:p>
          <a:p>
            <a:pPr algn="just"/>
            <a:r>
              <a:rPr lang="en-US" sz="2600" dirty="0"/>
              <a:t>Overall, it strengthens organizational resilience against evolving cybersecurity threats.</a:t>
            </a: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2D983B6-E938-4424-BED1-4178B5F49D01}" type="slidenum">
              <a:rPr lang="en-US" altLang="en-US"/>
              <a:pPr/>
              <a:t>13</a:t>
            </a:fld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9956800" cy="715962"/>
          </a:xfrm>
        </p:spPr>
        <p:txBody>
          <a:bodyPr/>
          <a:lstStyle/>
          <a:p>
            <a:pPr>
              <a:defRPr/>
            </a:pPr>
            <a:r>
              <a:rPr lang="en-US" dirty="0"/>
              <a:t>                                     FUTURE WORK</a:t>
            </a:r>
            <a:endParaRPr lang="en-IN" dirty="0"/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527175"/>
            <a:ext cx="10229850" cy="533082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I</a:t>
            </a:r>
            <a:r>
              <a:rPr lang="en-US" sz="2700" dirty="0"/>
              <a:t>ntegration with AI and Machine Learning</a:t>
            </a:r>
          </a:p>
          <a:p>
            <a:pPr algn="just">
              <a:lnSpc>
                <a:spcPct val="150000"/>
              </a:lnSpc>
            </a:pPr>
            <a:r>
              <a:rPr lang="en-US" sz="2700" dirty="0"/>
              <a:t>Automation of intelligence workflows</a:t>
            </a:r>
          </a:p>
          <a:p>
            <a:pPr algn="just">
              <a:lnSpc>
                <a:spcPct val="150000"/>
              </a:lnSpc>
            </a:pPr>
            <a:r>
              <a:rPr lang="en-US" sz="2700" dirty="0"/>
              <a:t>Time-aware and predictive threat models</a:t>
            </a:r>
          </a:p>
          <a:p>
            <a:pPr algn="just">
              <a:lnSpc>
                <a:spcPct val="150000"/>
              </a:lnSpc>
            </a:pPr>
            <a:r>
              <a:rPr lang="en-US" sz="2700" dirty="0"/>
              <a:t>Enhanced intelligence sharing platforms</a:t>
            </a:r>
          </a:p>
          <a:p>
            <a:pPr algn="just">
              <a:lnSpc>
                <a:spcPct val="150000"/>
              </a:lnSpc>
            </a:pPr>
            <a:r>
              <a:rPr lang="en-US" sz="2700" dirty="0"/>
              <a:t>Integration with Zero Trust and SOAR systems</a:t>
            </a:r>
            <a:endParaRPr lang="en-IN" sz="2700" dirty="0"/>
          </a:p>
        </p:txBody>
      </p:sp>
      <p:sp>
        <p:nvSpPr>
          <p:cNvPr id="19460" name="Slide Number Placeholder 3"/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114EDBC-7F5B-4F75-8C14-4F3D9200C9D2}" type="slidenum">
              <a:rPr lang="en-US" altLang="en-US"/>
              <a:pPr/>
              <a:t>14</a:t>
            </a:fld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9956800" cy="6858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dirty="0"/>
              <a:t>References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838200"/>
            <a:ext cx="10744200" cy="5791200"/>
          </a:xfrm>
        </p:spPr>
        <p:txBody>
          <a:bodyPr/>
          <a:lstStyle/>
          <a:p>
            <a:pPr marL="0" indent="0" algn="just">
              <a:buNone/>
            </a:pPr>
            <a:r>
              <a:rPr lang="en-IN" sz="2200" dirty="0"/>
              <a:t>[1] S. Saeed, S. A. </a:t>
            </a:r>
            <a:r>
              <a:rPr lang="en-IN" sz="2200" dirty="0" err="1"/>
              <a:t>Suayyid</a:t>
            </a:r>
            <a:r>
              <a:rPr lang="en-IN" sz="2200" dirty="0"/>
              <a:t>, M. S. Al-Ghamdi, and H. Al-</a:t>
            </a:r>
            <a:r>
              <a:rPr lang="en-IN" sz="2200" dirty="0" err="1"/>
              <a:t>Muhaisen</a:t>
            </a:r>
            <a:r>
              <a:rPr lang="en-IN" sz="2200" dirty="0"/>
              <a:t>, “A Systematic Literature Review on Cyber Threat Intelligence for Organizational Cybersecurity Resilience,” IEEE Sensors Journal, vol. 23, no. 16, pp. 7273–7301, Aug. 2023.</a:t>
            </a:r>
          </a:p>
          <a:p>
            <a:pPr marL="0" indent="0" algn="just">
              <a:buNone/>
            </a:pPr>
            <a:r>
              <a:rPr lang="en-IN" sz="2200" dirty="0"/>
              <a:t>[2] J. Zhao, Q. Yan, X. Liu, B. Li, and G. Zuo, “Cyber Threat Intelligence </a:t>
            </a:r>
            <a:r>
              <a:rPr lang="en-IN" sz="2200" dirty="0" err="1"/>
              <a:t>Modeling</a:t>
            </a:r>
            <a:r>
              <a:rPr lang="en-IN" sz="2200" dirty="0"/>
              <a:t> Based on Heterogeneous Graph Convolutional Networks,” Proceedings of the IEEE International Conference on Cyber Security, pp. 1–10, 2021.</a:t>
            </a:r>
          </a:p>
          <a:p>
            <a:pPr marL="0" indent="0" algn="just">
              <a:buNone/>
            </a:pPr>
            <a:r>
              <a:rPr lang="en-IN" sz="2200" dirty="0"/>
              <a:t>[3] </a:t>
            </a:r>
            <a:r>
              <a:rPr lang="en-US" sz="2200" dirty="0"/>
              <a:t>K. </a:t>
            </a:r>
            <a:r>
              <a:rPr lang="en-US" sz="2200" dirty="0" err="1"/>
              <a:t>Ovabor</a:t>
            </a:r>
            <a:r>
              <a:rPr lang="en-US" sz="2200" dirty="0"/>
              <a:t>, I. O. Sule-Odu, T. Atkison, and J. O. Benedict, “AI-Driven Threat Intelligence for Real-Time Cybersecurity: Frameworks, Tools, and Future Directions,” Open Access Research Journal of Science and Technology, vol. 12, no. 2, pp. 040–048, 2024.</a:t>
            </a:r>
          </a:p>
          <a:p>
            <a:pPr marL="0" indent="0" algn="just">
              <a:buNone/>
            </a:pPr>
            <a:r>
              <a:rPr lang="en-IN" sz="2200" dirty="0"/>
              <a:t>[4] J. Zhao, Q. Yan, X. Liu, B. Li, and G. Zuo, “Cyber Threat Intelligence </a:t>
            </a:r>
            <a:r>
              <a:rPr lang="en-IN" sz="2200" dirty="0" err="1"/>
              <a:t>Modeling</a:t>
            </a:r>
            <a:r>
              <a:rPr lang="en-IN" sz="2200" dirty="0"/>
              <a:t> Based on Heterogeneous Graph Convolutional Networks,” USENIX RAID Conference, pp. 1–12, 2020.</a:t>
            </a:r>
          </a:p>
          <a:p>
            <a:pPr marL="0" indent="0" algn="just">
              <a:buNone/>
            </a:pPr>
            <a:r>
              <a:rPr lang="en-IN" sz="2200" dirty="0"/>
              <a:t> [5] </a:t>
            </a:r>
            <a:r>
              <a:rPr lang="en-US" sz="2200" dirty="0"/>
              <a:t>S. </a:t>
            </a:r>
            <a:r>
              <a:rPr lang="en-US" sz="2200" dirty="0" err="1"/>
              <a:t>Stirparo</a:t>
            </a:r>
            <a:r>
              <a:rPr lang="en-US" sz="2200" dirty="0"/>
              <a:t> and R. Brown, “SANS 2022 Cyber Threat Intelligence Survey,” SANS Institute Whitepaper, 2022.</a:t>
            </a:r>
            <a:endParaRPr lang="en-IN" sz="2200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AB2DF98-6BEF-4328-B994-32F9E7364367}" type="slidenum">
              <a:rPr lang="en-US" altLang="en-US"/>
              <a:pPr/>
              <a:t>15</a:t>
            </a:fld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642893"/>
            <a:ext cx="10515600" cy="5910307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[6]</a:t>
            </a:r>
            <a:r>
              <a:rPr lang="en-US" dirty="0"/>
              <a:t> A. </a:t>
            </a:r>
            <a:r>
              <a:rPr lang="en-US" dirty="0" err="1"/>
              <a:t>Kodituwakku</a:t>
            </a:r>
            <a:r>
              <a:rPr lang="en-US" dirty="0"/>
              <a:t>, C. Xu, D. Rogers, and D. K. Ahn, “Investigating the Temporal Dynamics of Cyber Threat Intelligence,” </a:t>
            </a:r>
            <a:r>
              <a:rPr lang="en-US" dirty="0" err="1"/>
              <a:t>arXiv</a:t>
            </a:r>
            <a:r>
              <a:rPr lang="en-US" dirty="0"/>
              <a:t> preprint arXiv:2412.19086, 2024.</a:t>
            </a:r>
          </a:p>
          <a:p>
            <a:pPr marL="0" indent="0" algn="just">
              <a:buNone/>
            </a:pPr>
            <a:r>
              <a:rPr lang="en-IN" dirty="0"/>
              <a:t>[7]</a:t>
            </a:r>
            <a:r>
              <a:rPr lang="en-US" dirty="0"/>
              <a:t> R. Kumar, S. Mishra, and P. Ashokan, “AI-Driven Threat Intelligence Platforms for Advanced Cybersecurity Monitoring,” IEEE Access, vol. 12, pp. 154321–154334, 2024.</a:t>
            </a:r>
          </a:p>
          <a:p>
            <a:pPr marL="0" indent="0" algn="just">
              <a:buNone/>
            </a:pPr>
            <a:r>
              <a:rPr lang="en-IN" dirty="0"/>
              <a:t>[8]</a:t>
            </a:r>
            <a:r>
              <a:rPr lang="en-US" dirty="0"/>
              <a:t> V. Kumar, P. Reddy, and M. Singh, “AI-Based Threat Intelligence and Adaptive Defense Mechanisms in Distributed Systems,” IEEE Access, vol. 10, pp. 98765–98776, 2022.</a:t>
            </a:r>
          </a:p>
          <a:p>
            <a:pPr marL="0" indent="0" algn="just">
              <a:buNone/>
            </a:pPr>
            <a:r>
              <a:rPr lang="en-IN" dirty="0"/>
              <a:t>[9] </a:t>
            </a:r>
            <a:r>
              <a:rPr lang="en-US" dirty="0"/>
              <a:t>Y. Jiang, Q. Meng, F. Shang, and B. Sikdar, “MITRE ATT&amp;CK Applications in Cybersecurity and the Way Forward,” </a:t>
            </a:r>
            <a:r>
              <a:rPr lang="en-US" dirty="0" err="1"/>
              <a:t>arXiv</a:t>
            </a:r>
            <a:r>
              <a:rPr lang="en-US" dirty="0"/>
              <a:t> preprint arXiv:2502.10825, 2025.</a:t>
            </a:r>
          </a:p>
          <a:p>
            <a:pPr marL="0" indent="0" algn="just">
              <a:buNone/>
            </a:pPr>
            <a:r>
              <a:rPr lang="en-IN" dirty="0"/>
              <a:t>[10]</a:t>
            </a:r>
            <a:r>
              <a:rPr lang="en-US" dirty="0"/>
              <a:t> N. S. T. </a:t>
            </a:r>
            <a:r>
              <a:rPr lang="en-US" dirty="0" err="1"/>
              <a:t>Erukude</a:t>
            </a:r>
            <a:r>
              <a:rPr lang="en-US" dirty="0"/>
              <a:t>, V. C. Marella, and S. R. </a:t>
            </a:r>
            <a:r>
              <a:rPr lang="en-US" dirty="0" err="1"/>
              <a:t>Veluru</a:t>
            </a:r>
            <a:r>
              <a:rPr lang="en-US" dirty="0"/>
              <a:t>, “AI-Driven Cybersecurity Threats: A Survey of Emerging Risks and Defensive Strategies,” </a:t>
            </a:r>
            <a:r>
              <a:rPr lang="en-US" dirty="0" err="1"/>
              <a:t>arXiv</a:t>
            </a:r>
            <a:r>
              <a:rPr lang="en-US" dirty="0"/>
              <a:t> preprint arXiv:2601.03304, 2026.</a:t>
            </a:r>
            <a:endParaRPr lang="en-IN" dirty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E6F131BC-F7C7-4DEA-90B6-32CF77105A53}" type="slidenum">
              <a:rPr lang="en-US" altLang="en-US"/>
              <a:pPr/>
              <a:t>16</a:t>
            </a:fld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990600"/>
            <a:ext cx="7467600" cy="2590800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br>
              <a:rPr lang="en-US" dirty="0"/>
            </a:br>
            <a:r>
              <a:rPr lang="en-US" dirty="0"/>
              <a:t>THANK YOU</a:t>
            </a:r>
          </a:p>
        </p:txBody>
      </p:sp>
      <p:sp>
        <p:nvSpPr>
          <p:cNvPr id="23555" name="Slide Number Placeholder 2"/>
          <p:cNvSpPr>
            <a:spLocks noGrp="1"/>
          </p:cNvSpPr>
          <p:nvPr>
            <p:ph type="sldNum" sz="quarter" idx="11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63AA0C4-D338-4B8B-AF76-FA6D5AEDADCF}" type="slidenum">
              <a:rPr lang="en-US" altLang="en-US"/>
              <a:pPr/>
              <a:t>17</a:t>
            </a:fld>
            <a:endParaRPr lang="en-US" alt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2726</TotalTime>
  <Words>1284</Words>
  <Application>Microsoft Office PowerPoint</Application>
  <PresentationFormat>Widescreen</PresentationFormat>
  <Paragraphs>185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Bookman Old Style</vt:lpstr>
      <vt:lpstr>Calibri</vt:lpstr>
      <vt:lpstr>Century Schoolbook</vt:lpstr>
      <vt:lpstr>Courier New</vt:lpstr>
      <vt:lpstr>Segoe UI</vt:lpstr>
      <vt:lpstr>Times New Roman</vt:lpstr>
      <vt:lpstr>Wingdings</vt:lpstr>
      <vt:lpstr>Wingdings 2</vt:lpstr>
      <vt:lpstr>Oriel</vt:lpstr>
      <vt:lpstr>THREAT INTELLIGENCE LIFECYCLE</vt:lpstr>
      <vt:lpstr>AGENDA</vt:lpstr>
      <vt:lpstr>Abstract </vt:lpstr>
      <vt:lpstr>                                   INTRODUCTION</vt:lpstr>
      <vt:lpstr>Literature Survey</vt:lpstr>
      <vt:lpstr>DESIGN AND WORKING </vt:lpstr>
      <vt:lpstr>  Threat Intelligence Lifecycle Phase</vt:lpstr>
      <vt:lpstr>PowerPoint Presentation</vt:lpstr>
      <vt:lpstr>PowerPoint Presentation</vt:lpstr>
      <vt:lpstr>PowerPoint Presentation</vt:lpstr>
      <vt:lpstr> Advantages and disadvantages</vt:lpstr>
      <vt:lpstr>APPLICATIONS</vt:lpstr>
      <vt:lpstr>CONCLUSION</vt:lpstr>
      <vt:lpstr>                                     FUTURE WORK</vt:lpstr>
      <vt:lpstr>References</vt:lpstr>
      <vt:lpstr>PowerPoint Presentation</vt:lpstr>
      <vt:lpstr> 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</dc:title>
  <dc:creator>Lenovo</dc:creator>
  <cp:lastModifiedBy>Rajput, Tanu (Contractor)</cp:lastModifiedBy>
  <cp:revision>193</cp:revision>
  <dcterms:created xsi:type="dcterms:W3CDTF">2006-08-16T00:00:00Z</dcterms:created>
  <dcterms:modified xsi:type="dcterms:W3CDTF">2026-04-21T10:59:00Z</dcterms:modified>
</cp:coreProperties>
</file>